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5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/>
    <p:restoredTop sz="75682"/>
  </p:normalViewPr>
  <p:slideViewPr>
    <p:cSldViewPr snapToGrid="0">
      <p:cViewPr varScale="1">
        <p:scale>
          <a:sx n="115" d="100"/>
          <a:sy n="115" d="100"/>
        </p:scale>
        <p:origin x="24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33057-77CB-C947-ABE8-0C0A70EF1A2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7EFA9-3CED-434B-82B3-9B302BD62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8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best way to think of the proposal is that SG/B develops a service that does two things:</a:t>
            </a:r>
          </a:p>
          <a:p>
            <a:pPr marL="171450" indent="-171450">
              <a:buFontTx/>
              <a:buChar char="-"/>
            </a:pPr>
            <a:r>
              <a:rPr lang="en-US" dirty="0"/>
              <a:t>Provides details on specific objects (i.e. a list of approved PES including all associated information like references)</a:t>
            </a:r>
          </a:p>
          <a:p>
            <a:pPr marL="171450" indent="-171450">
              <a:buFontTx/>
              <a:buChar char="-"/>
            </a:pPr>
            <a:r>
              <a:rPr lang="en-US" dirty="0"/>
              <a:t>Calculates the NEQ or Distance when a valid scenario is provided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That’s it. The application will be responsible for requesting the details and putting together a valid scenario. What it does with this data is completely dependent on the </a:t>
            </a:r>
            <a:r>
              <a:rPr lang="en-US"/>
              <a:t>applications design and desired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EFA9-3CED-434B-82B3-9B302BD629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75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A simple JSON file, created using published rules, would enable nations to tailor AASTP rules.</a:t>
            </a:r>
          </a:p>
          <a:p>
            <a:endParaRPr lang="en-US" sz="1600" dirty="0"/>
          </a:p>
          <a:p>
            <a:r>
              <a:rPr lang="en-US" sz="1600" dirty="0"/>
              <a:t>In the example given, </a:t>
            </a:r>
          </a:p>
          <a:p>
            <a:pPr marL="171450" indent="-171450">
              <a:buFontTx/>
              <a:buChar char="-"/>
            </a:pPr>
            <a:r>
              <a:rPr lang="en-US" sz="1600" dirty="0"/>
              <a:t>Australia has disabled Explosives Workshops with hardened roofs because we don’t design our workshops this way (just an example)</a:t>
            </a:r>
          </a:p>
          <a:p>
            <a:pPr marL="171450" indent="-171450">
              <a:buFontTx/>
              <a:buChar char="-"/>
            </a:pPr>
            <a:r>
              <a:rPr lang="en-US" sz="1600" dirty="0"/>
              <a:t>Australia has modified the changeover from one equation to another using BD2 equation from an NEQ of 1500kg to 2000kg.</a:t>
            </a:r>
          </a:p>
          <a:p>
            <a:pPr marL="171450" indent="-171450">
              <a:buFontTx/>
              <a:buChar char="-"/>
            </a:pPr>
            <a:endParaRPr lang="en-US" sz="1600" dirty="0"/>
          </a:p>
          <a:p>
            <a:pPr marL="0" indent="0">
              <a:buFontTx/>
              <a:buNone/>
            </a:pPr>
            <a:r>
              <a:rPr lang="en-US" sz="1600" dirty="0"/>
              <a:t>Note that if the second change hadn’t been included this error would have been picked up through internal validation due to a 500kg overlap in BD2 scope. This resilience ensures data validity.</a:t>
            </a:r>
          </a:p>
          <a:p>
            <a:pPr marL="0" indent="0">
              <a:buFontTx/>
              <a:buNone/>
            </a:pPr>
            <a:endParaRPr lang="en-US" sz="1600" dirty="0"/>
          </a:p>
          <a:p>
            <a:pPr marL="0" indent="0">
              <a:buFontTx/>
              <a:buNone/>
            </a:pPr>
            <a:r>
              <a:rPr lang="en-US" sz="1600" dirty="0"/>
              <a:t>This approach retains full traceability, both to the AASTP-1 and to the national decision driving the tailoring.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EFA9-3CED-434B-82B3-9B302BD629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66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88FA4-4DBD-7B42-27AA-C667F939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4DCB5-D435-C94B-BF55-EC211F926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9CF88-DEB6-157B-043C-3B59027D0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I’d recommend the language packs remain the responsibility of SG/B and form part of the core data. Industry standard tools simply their development and maintenance such that it largely becomes an automated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B1FE-98F2-03E7-390A-5EBBB5927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EFA9-3CED-434B-82B3-9B302BD629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3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C7C3-1D68-A2F4-6480-3B0C509B1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AD47B-3704-EBC9-32CB-897CD0CCC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5C8CD-5D2A-02AB-16B4-1C7EEBC21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352D5-44AC-5764-9593-CA7A164A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F4D5-75DA-79FF-9F96-9D1B7A39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0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4678-F0F3-3916-B5B3-79B53364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325B-0601-881E-2418-7C2CDBB01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56FDC-5F01-B3EB-6B24-5F51F909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F15B-D4C5-12B2-F588-49721D2C4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97F01-9968-5C90-4CA0-68FD4B79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58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F4E4-B9CC-AAA2-A5E8-5590406E6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1D8E1-5099-8B5C-EC5F-BCE4E977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74E72-C81E-0633-B5CC-CA4FD6F9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4C5F0-B2BA-C0BC-F5C2-DCE47C03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43656-ACA0-21DD-50DE-37F7936A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3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3D75-C290-8CFA-3808-CE5A38F7A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CCD95-D193-5140-1CA2-D11736F46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79353-CB80-DEB9-CFB5-2C5AE4C4A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EEE53-DAE7-4010-F6AE-BCBA7FB5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9B256-1ED1-9D99-DEA3-8FB6361F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52AC0-5E83-D230-BFB3-361551EC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0836-5EED-6476-D01A-8CBFD477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44441-68FA-10EE-FC1F-DAE1DA0CF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0F7A2-D3C4-0974-9E94-F7E8D7993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4694F-F2B4-8B47-F93E-99E36DF5C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A52CE7-D345-0085-6B37-A0896C252E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D1661D-8736-DE4A-7010-CF91DEE6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CC95D-AE12-3835-497B-80BE8D16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50E18-E741-E7D0-EED5-7C4A9FF7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62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7C91-A123-7486-D008-CD282C481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76C87-6C37-8716-1235-89DC5921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4F7AE-4D5D-8E1C-85C6-64589C48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08E7D-5499-CEED-8F1F-F32820A0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6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21EC97-FB16-AF5A-3DD8-C0C514D4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F1CC3-8DC2-F52B-888D-BB1B3622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DFBC4-A7D5-7288-2FFD-75DB4BF7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9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FD30-BA4B-38B8-E0F2-43347EA4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FBCC3-EFAD-D214-A64E-78975D66A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216A1-6520-B342-CC5A-DFA644EEE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1A581-3507-7321-3BB0-93ED458A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8E55B-D447-87FE-3024-747861F3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05C16-2F7C-882C-5BD7-79A449D0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2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D76D-853A-A22F-74E6-839A11CB0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2632FA-29A5-D857-BBA1-B4551847B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061E5-981E-21B3-BC71-C84741E55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56BD0-B715-6C36-6D63-2C4857FD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0B66D-0250-AD32-71D2-E1870A01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DEF68-6D36-DEDD-0726-1D7D54C1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33EE7-3924-ED77-F1AF-BE1918A5D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CB219-6531-6DFA-E378-F046CD82F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493CD-8917-C55B-4A78-BA743AEB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6255F-DD51-2D5D-E155-54FFD7CF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16239-FFF6-B876-0629-7AE540AD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1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FD5D1C-FF3E-1574-CD20-23E7FA209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AA92B-FA18-8425-EE24-9B717F71A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BCDC2-CCF4-F91B-643E-596E10F8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3EA23-5901-2B35-00C8-6FA7CA20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1E366-0103-63D9-AE15-877EAA19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2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0A60B-6B5E-AE0B-E21C-28B74B98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93E6D-BAB8-2494-E127-D8117577C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DBDD7-5EFA-995C-680A-3EB294558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072E5-DE53-A84F-8F85-FF1567E41E02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4FC01-8F34-9367-5606-56D8C421E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8049C-3FFC-23D3-AE12-7AD420B15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4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6C89-51AE-AF60-E931-E5D9D8D6D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AASTP </a:t>
            </a:r>
            <a:r>
              <a:rPr lang="en-US" dirty="0" err="1"/>
              <a:t>Digitisation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51CFA-68D1-674B-C2BE-5F5AA1AF61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3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BC86-3DFF-D227-B9FE-560CC0B0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Situation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394CE95-4CE3-F5FC-6350-02779EF7C78E}"/>
              </a:ext>
            </a:extLst>
          </p:cNvPr>
          <p:cNvSpPr/>
          <p:nvPr/>
        </p:nvSpPr>
        <p:spPr>
          <a:xfrm>
            <a:off x="2125362" y="2458995"/>
            <a:ext cx="1643449" cy="232307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AASTP-1</a:t>
            </a:r>
          </a:p>
          <a:p>
            <a:pPr algn="ctr"/>
            <a:r>
              <a:rPr lang="en-US" dirty="0"/>
              <a:t>PDF File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Section II</a:t>
            </a:r>
          </a:p>
          <a:p>
            <a:pPr algn="ctr"/>
            <a:r>
              <a:rPr lang="en-US" dirty="0"/>
              <a:t>Tables 1-9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465431-FB42-8B9D-1093-3890B91BF418}"/>
              </a:ext>
            </a:extLst>
          </p:cNvPr>
          <p:cNvSpPr/>
          <p:nvPr/>
        </p:nvSpPr>
        <p:spPr>
          <a:xfrm>
            <a:off x="5357153" y="555149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UK AASTP Tool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E385F7-2E4D-4163-E7C5-09EAB2628F4D}"/>
              </a:ext>
            </a:extLst>
          </p:cNvPr>
          <p:cNvSpPr/>
          <p:nvPr/>
        </p:nvSpPr>
        <p:spPr>
          <a:xfrm>
            <a:off x="5646102" y="1037563"/>
            <a:ext cx="1440873" cy="101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Section II</a:t>
            </a:r>
          </a:p>
          <a:p>
            <a:pPr algn="ctr"/>
            <a:r>
              <a:rPr lang="en-US" sz="1400" dirty="0"/>
              <a:t>Reproduction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B8B31F-AE87-ABC8-7312-E7678B03A341}"/>
              </a:ext>
            </a:extLst>
          </p:cNvPr>
          <p:cNvCxnSpPr>
            <a:cxnSpLocks/>
          </p:cNvCxnSpPr>
          <p:nvPr/>
        </p:nvCxnSpPr>
        <p:spPr>
          <a:xfrm flipV="1">
            <a:off x="3990109" y="2257259"/>
            <a:ext cx="1288317" cy="105435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F461DD-F4B8-3535-DF9D-C546D2ECC61A}"/>
              </a:ext>
            </a:extLst>
          </p:cNvPr>
          <p:cNvCxnSpPr>
            <a:cxnSpLocks/>
          </p:cNvCxnSpPr>
          <p:nvPr/>
        </p:nvCxnSpPr>
        <p:spPr>
          <a:xfrm>
            <a:off x="3990109" y="3429000"/>
            <a:ext cx="181956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80E014-49CE-4F57-08F7-6A4C92799F3F}"/>
              </a:ext>
            </a:extLst>
          </p:cNvPr>
          <p:cNvSpPr txBox="1"/>
          <p:nvPr/>
        </p:nvSpPr>
        <p:spPr>
          <a:xfrm>
            <a:off x="8349673" y="851834"/>
            <a:ext cx="3293076" cy="510909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Issues: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Validation of Section II reproduction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Potential differences in results between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Updates require each tool to be reworked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version will require re-validation of every tool</a:t>
            </a:r>
          </a:p>
          <a:p>
            <a:endParaRPr lang="en-US" sz="1600" dirty="0"/>
          </a:p>
          <a:p>
            <a:r>
              <a:rPr lang="en-US" dirty="0"/>
              <a:t>Reasons: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is currently formatted to support human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System complexity has grown to the point where human use is no longer viable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dirty="0"/>
              <a:t>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Format data in a way that supports desired ways of work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F606DC-4FA5-2838-FD9D-458D8FA78059}"/>
              </a:ext>
            </a:extLst>
          </p:cNvPr>
          <p:cNvSpPr/>
          <p:nvPr/>
        </p:nvSpPr>
        <p:spPr>
          <a:xfrm>
            <a:off x="5934239" y="2555325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US AASTP Tool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8D30CA3-6E2B-E225-B6C3-28C7B06AD652}"/>
              </a:ext>
            </a:extLst>
          </p:cNvPr>
          <p:cNvSpPr/>
          <p:nvPr/>
        </p:nvSpPr>
        <p:spPr>
          <a:xfrm>
            <a:off x="6223188" y="3037739"/>
            <a:ext cx="1440873" cy="101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Section II</a:t>
            </a:r>
          </a:p>
          <a:p>
            <a:pPr algn="ctr"/>
            <a:r>
              <a:rPr lang="en-US" sz="1400" dirty="0"/>
              <a:t>Reproduction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F37252E-2EC3-4D8A-43B1-51F31C2FFE45}"/>
              </a:ext>
            </a:extLst>
          </p:cNvPr>
          <p:cNvSpPr/>
          <p:nvPr/>
        </p:nvSpPr>
        <p:spPr>
          <a:xfrm>
            <a:off x="5357153" y="4555501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… AASTP Tool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F6CCC22-40F7-B8C0-524E-76CCC5CF314F}"/>
              </a:ext>
            </a:extLst>
          </p:cNvPr>
          <p:cNvSpPr/>
          <p:nvPr/>
        </p:nvSpPr>
        <p:spPr>
          <a:xfrm>
            <a:off x="5646102" y="5037915"/>
            <a:ext cx="1440873" cy="101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Section II</a:t>
            </a:r>
          </a:p>
          <a:p>
            <a:pPr algn="ctr"/>
            <a:r>
              <a:rPr lang="en-US" sz="1400" dirty="0"/>
              <a:t>Reproduction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26FA6C-793E-EF01-EF90-CC6474C05B20}"/>
              </a:ext>
            </a:extLst>
          </p:cNvPr>
          <p:cNvCxnSpPr>
            <a:cxnSpLocks/>
          </p:cNvCxnSpPr>
          <p:nvPr/>
        </p:nvCxnSpPr>
        <p:spPr>
          <a:xfrm>
            <a:off x="3990109" y="3546389"/>
            <a:ext cx="1312080" cy="100911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946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63B10-2310-337D-2CA6-098603FF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CA317-2CEA-9477-3DB8-B2BFC864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2FC4C8-FC17-9B8C-ADAC-8BEFF84FF322}"/>
              </a:ext>
            </a:extLst>
          </p:cNvPr>
          <p:cNvSpPr/>
          <p:nvPr/>
        </p:nvSpPr>
        <p:spPr>
          <a:xfrm>
            <a:off x="2125362" y="2458995"/>
            <a:ext cx="1643449" cy="23230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Digitised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Section II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Tables 1-9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(inc. Service Layer and API)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CD6934B-4D86-7F14-2A68-283A213C991E}"/>
              </a:ext>
            </a:extLst>
          </p:cNvPr>
          <p:cNvSpPr/>
          <p:nvPr/>
        </p:nvSpPr>
        <p:spPr>
          <a:xfrm>
            <a:off x="5357153" y="555149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/>
              <a:t>UK AASTP Application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DEF166-9F69-48B6-52F8-3F47595514E7}"/>
              </a:ext>
            </a:extLst>
          </p:cNvPr>
          <p:cNvCxnSpPr>
            <a:cxnSpLocks/>
          </p:cNvCxnSpPr>
          <p:nvPr/>
        </p:nvCxnSpPr>
        <p:spPr>
          <a:xfrm flipV="1">
            <a:off x="3990109" y="2257259"/>
            <a:ext cx="1288317" cy="1054353"/>
          </a:xfrm>
          <a:prstGeom prst="straightConnector1">
            <a:avLst/>
          </a:prstGeom>
          <a:ln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DC1273-2C43-C2D3-E413-3473853C0883}"/>
              </a:ext>
            </a:extLst>
          </p:cNvPr>
          <p:cNvCxnSpPr>
            <a:cxnSpLocks/>
          </p:cNvCxnSpPr>
          <p:nvPr/>
        </p:nvCxnSpPr>
        <p:spPr>
          <a:xfrm>
            <a:off x="3990109" y="3429000"/>
            <a:ext cx="1819564" cy="0"/>
          </a:xfrm>
          <a:prstGeom prst="straightConnector1">
            <a:avLst/>
          </a:prstGeom>
          <a:ln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153F950-86E2-D38E-6DF3-B5D852EBD989}"/>
              </a:ext>
            </a:extLst>
          </p:cNvPr>
          <p:cNvSpPr txBox="1"/>
          <p:nvPr/>
        </p:nvSpPr>
        <p:spPr>
          <a:xfrm>
            <a:off x="8460322" y="514790"/>
            <a:ext cx="3004127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Proposed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Sections of AASTP-1 are </a:t>
            </a:r>
            <a:r>
              <a:rPr lang="en-US" sz="1600" dirty="0" err="1"/>
              <a:t>digitised</a:t>
            </a:r>
            <a:r>
              <a:rPr lang="en-US" sz="1600" dirty="0"/>
              <a:t> eliminating the PDF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Service layer draws upon data to determine required equation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Equation is resolved by service layer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Applications engage with a thin API using a </a:t>
            </a:r>
            <a:r>
              <a:rPr lang="en-US" sz="1600" dirty="0" err="1"/>
              <a:t>standardised</a:t>
            </a:r>
            <a:r>
              <a:rPr lang="en-US" sz="1600" dirty="0"/>
              <a:t> API contract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dirty="0"/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Apps have no visibility of underlying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API contract is agnostic to AASTP editions and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apps utilize a common data set, ensuring consistency between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Digitised</a:t>
            </a:r>
            <a:r>
              <a:rPr lang="en-US" sz="1600" dirty="0"/>
              <a:t> sections have validation built in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AFA7CB9-48EE-57C4-796B-A2EAC1FB03A6}"/>
              </a:ext>
            </a:extLst>
          </p:cNvPr>
          <p:cNvSpPr/>
          <p:nvPr/>
        </p:nvSpPr>
        <p:spPr>
          <a:xfrm>
            <a:off x="5934239" y="2555325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/>
              <a:t>UK AASTP Application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4B5824E-758C-CB5D-E9BC-5A6ED64282C1}"/>
              </a:ext>
            </a:extLst>
          </p:cNvPr>
          <p:cNvSpPr/>
          <p:nvPr/>
        </p:nvSpPr>
        <p:spPr>
          <a:xfrm>
            <a:off x="5357153" y="4555501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/>
              <a:t>… AASTP Application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871156-F5E5-D0A0-6E06-B70E1BC4DF12}"/>
              </a:ext>
            </a:extLst>
          </p:cNvPr>
          <p:cNvCxnSpPr>
            <a:cxnSpLocks/>
          </p:cNvCxnSpPr>
          <p:nvPr/>
        </p:nvCxnSpPr>
        <p:spPr>
          <a:xfrm>
            <a:off x="3990109" y="3546389"/>
            <a:ext cx="1312080" cy="1009112"/>
          </a:xfrm>
          <a:prstGeom prst="straightConnector1">
            <a:avLst/>
          </a:prstGeom>
          <a:ln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A73B4AE-9C43-6511-6B03-2E7945DD8EB9}"/>
              </a:ext>
            </a:extLst>
          </p:cNvPr>
          <p:cNvSpPr/>
          <p:nvPr/>
        </p:nvSpPr>
        <p:spPr>
          <a:xfrm>
            <a:off x="403186" y="2458995"/>
            <a:ext cx="1643449" cy="232307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AASTP-1</a:t>
            </a:r>
          </a:p>
          <a:p>
            <a:pPr algn="ctr"/>
            <a:r>
              <a:rPr lang="en-US" dirty="0"/>
              <a:t>PDF File</a:t>
            </a:r>
          </a:p>
          <a:p>
            <a:pPr algn="ctr"/>
            <a:r>
              <a:rPr lang="en-US" dirty="0"/>
              <a:t>(ex. Section II tables)</a:t>
            </a:r>
          </a:p>
        </p:txBody>
      </p:sp>
    </p:spTree>
    <p:extLst>
      <p:ext uri="{BB962C8B-B14F-4D97-AF65-F5344CB8AC3E}">
        <p14:creationId xmlns:p14="http://schemas.microsoft.com/office/powerpoint/2010/main" val="1683635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C3EA0-A3D8-4129-C186-8DC61E60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CEF9-7B2C-1C32-EEA1-5254CE6D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C3D16A-67A9-66DB-46F3-2A6D64204DF2}"/>
              </a:ext>
            </a:extLst>
          </p:cNvPr>
          <p:cNvSpPr/>
          <p:nvPr/>
        </p:nvSpPr>
        <p:spPr>
          <a:xfrm>
            <a:off x="3375580" y="4088441"/>
            <a:ext cx="2014152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393383-FDCD-2B23-574B-C568F5717D3A}"/>
              </a:ext>
            </a:extLst>
          </p:cNvPr>
          <p:cNvSpPr txBox="1"/>
          <p:nvPr/>
        </p:nvSpPr>
        <p:spPr>
          <a:xfrm>
            <a:off x="6522131" y="720193"/>
            <a:ext cx="463845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JSON structured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Foundational and describes the lowest data points</a:t>
            </a:r>
          </a:p>
          <a:p>
            <a:r>
              <a:rPr lang="en-US" dirty="0"/>
              <a:t>Knowledge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JSON structured data that links data points (i.e. current tables)</a:t>
            </a:r>
          </a:p>
          <a:p>
            <a:r>
              <a:rPr lang="en-US" dirty="0"/>
              <a:t>Validation: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JS code that ensures validity of Data and Knowledge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Three levels of validation</a:t>
            </a:r>
          </a:p>
          <a:p>
            <a:r>
              <a:rPr lang="en-US" dirty="0"/>
              <a:t>Repository: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Single link between service layer and knowledge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Returned data is in a common, known structure</a:t>
            </a:r>
          </a:p>
          <a:p>
            <a:r>
              <a:rPr lang="en-US" dirty="0"/>
              <a:t>Service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Validates and processes information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direct access to Data and Knowledge Layers</a:t>
            </a:r>
          </a:p>
          <a:p>
            <a:r>
              <a:rPr lang="en-US" dirty="0" err="1"/>
              <a:t>OpenAPI</a:t>
            </a:r>
            <a:r>
              <a:rPr lang="en-US" dirty="0"/>
              <a:t> Contract: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Published standard for accepting requests and posting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2B87D17-4EED-43A5-5A46-504AF8FF5155}"/>
              </a:ext>
            </a:extLst>
          </p:cNvPr>
          <p:cNvSpPr/>
          <p:nvPr/>
        </p:nvSpPr>
        <p:spPr>
          <a:xfrm>
            <a:off x="3375580" y="5745018"/>
            <a:ext cx="2014152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/>
              <a:t>Application Layer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39FB32-F50B-949B-65F9-234B64EBE7EA}"/>
              </a:ext>
            </a:extLst>
          </p:cNvPr>
          <p:cNvSpPr/>
          <p:nvPr/>
        </p:nvSpPr>
        <p:spPr>
          <a:xfrm>
            <a:off x="3375580" y="4639089"/>
            <a:ext cx="2014152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OpenAPI</a:t>
            </a:r>
            <a:r>
              <a:rPr lang="en-US" dirty="0">
                <a:solidFill>
                  <a:schemeClr val="tx1"/>
                </a:solidFill>
              </a:rPr>
              <a:t> Contract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09AAA0C-D062-DC35-A376-2A675A013F1C}"/>
              </a:ext>
            </a:extLst>
          </p:cNvPr>
          <p:cNvSpPr/>
          <p:nvPr/>
        </p:nvSpPr>
        <p:spPr>
          <a:xfrm>
            <a:off x="3375580" y="2381291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27321B-140F-717E-733E-D0DD9BDFA4FB}"/>
              </a:ext>
            </a:extLst>
          </p:cNvPr>
          <p:cNvSpPr/>
          <p:nvPr/>
        </p:nvSpPr>
        <p:spPr>
          <a:xfrm>
            <a:off x="3375580" y="1830643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C7FF02-167E-EDF5-91E5-95190AFA0C9C}"/>
              </a:ext>
            </a:extLst>
          </p:cNvPr>
          <p:cNvSpPr/>
          <p:nvPr/>
        </p:nvSpPr>
        <p:spPr>
          <a:xfrm>
            <a:off x="607292" y="2353587"/>
            <a:ext cx="2014152" cy="5400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AASTP-1 (5)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4741A616-142D-C932-0151-F2AB4796FC4A}"/>
              </a:ext>
            </a:extLst>
          </p:cNvPr>
          <p:cNvSpPr/>
          <p:nvPr/>
        </p:nvSpPr>
        <p:spPr>
          <a:xfrm>
            <a:off x="4294910" y="2931939"/>
            <a:ext cx="191655" cy="114726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EAAA20-93FD-8EDF-9E8A-FB2DC16771F1}"/>
              </a:ext>
            </a:extLst>
          </p:cNvPr>
          <p:cNvSpPr txBox="1"/>
          <p:nvPr/>
        </p:nvSpPr>
        <p:spPr>
          <a:xfrm>
            <a:off x="4415297" y="3505571"/>
            <a:ext cx="1254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Repository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B26E5E3E-99B8-7B5E-F97D-440DFD08A02D}"/>
              </a:ext>
            </a:extLst>
          </p:cNvPr>
          <p:cNvSpPr/>
          <p:nvPr/>
        </p:nvSpPr>
        <p:spPr>
          <a:xfrm>
            <a:off x="2621444" y="2530768"/>
            <a:ext cx="754136" cy="2032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p-down Arrow 16">
            <a:extLst>
              <a:ext uri="{FF2B5EF4-FFF2-40B4-BE49-F238E27FC236}">
                <a16:creationId xmlns:a16="http://schemas.microsoft.com/office/drawing/2014/main" id="{8940E738-E5AB-555E-175C-9C5B4D5982D0}"/>
              </a:ext>
            </a:extLst>
          </p:cNvPr>
          <p:cNvSpPr/>
          <p:nvPr/>
        </p:nvSpPr>
        <p:spPr>
          <a:xfrm>
            <a:off x="4278747" y="5205018"/>
            <a:ext cx="207818" cy="540000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6A2786B-D23F-E2BF-5527-87ADEC201B83}"/>
              </a:ext>
            </a:extLst>
          </p:cNvPr>
          <p:cNvSpPr/>
          <p:nvPr/>
        </p:nvSpPr>
        <p:spPr>
          <a:xfrm>
            <a:off x="2919006" y="1209964"/>
            <a:ext cx="2992582" cy="23125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C760C9-5AC0-BF78-C01C-92E0E7BE09CE}"/>
              </a:ext>
            </a:extLst>
          </p:cNvPr>
          <p:cNvSpPr txBox="1"/>
          <p:nvPr/>
        </p:nvSpPr>
        <p:spPr>
          <a:xfrm>
            <a:off x="3734191" y="1283176"/>
            <a:ext cx="132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3886351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9631F-B565-F35E-483F-39DF5C1A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DFC4-186E-ED67-197E-E1A61BB1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Knowledge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D38F8-DE8C-E5CB-503D-E7E02A340560}"/>
              </a:ext>
            </a:extLst>
          </p:cNvPr>
          <p:cNvSpPr txBox="1"/>
          <p:nvPr/>
        </p:nvSpPr>
        <p:spPr>
          <a:xfrm>
            <a:off x="838200" y="1831737"/>
            <a:ext cx="66581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/>
            <a:r>
              <a:rPr lang="en-US" dirty="0"/>
              <a:t>Data Layer Example:</a:t>
            </a:r>
          </a:p>
          <a:p>
            <a:pPr defTabSz="360000"/>
            <a:r>
              <a:rPr lang="en-AU" sz="1200" dirty="0"/>
              <a:t>{</a:t>
            </a:r>
          </a:p>
          <a:p>
            <a:pPr defTabSz="360000"/>
            <a:r>
              <a:rPr lang="en-AU" sz="1200" dirty="0"/>
              <a:t>	"id": "EFF001",</a:t>
            </a:r>
          </a:p>
          <a:p>
            <a:pPr defTabSz="360000"/>
            <a:r>
              <a:rPr lang="en-AU" sz="1200" dirty="0"/>
              <a:t>	"code": "BLAST",</a:t>
            </a:r>
          </a:p>
          <a:p>
            <a:pPr defTabSz="360000"/>
            <a:r>
              <a:rPr lang="en-AU" sz="1200" dirty="0"/>
              <a:t>	"name": "Blast",</a:t>
            </a:r>
          </a:p>
          <a:p>
            <a:pPr defTabSz="360000"/>
            <a:r>
              <a:rPr lang="en-AU" sz="1200" dirty="0"/>
              <a:t>	"description": "Blast effects are associated with the largest possible explosion in the PES.",</a:t>
            </a:r>
          </a:p>
          <a:p>
            <a:pPr defTabSz="360000"/>
            <a:r>
              <a:rPr lang="en-AU" sz="1200" dirty="0"/>
              <a:t>	"category": "</a:t>
            </a:r>
            <a:r>
              <a:rPr lang="en-AU" sz="1200" dirty="0" err="1"/>
              <a:t>blast_effect</a:t>
            </a:r>
            <a:r>
              <a:rPr lang="en-AU" sz="1200" dirty="0"/>
              <a:t>",</a:t>
            </a:r>
          </a:p>
          <a:p>
            <a:pPr defTabSz="360000"/>
            <a:r>
              <a:rPr lang="en-AU" sz="1200" dirty="0"/>
              <a:t>	"</a:t>
            </a:r>
            <a:r>
              <a:rPr lang="en-AU" sz="1200" dirty="0" err="1"/>
              <a:t>requiresQD</a:t>
            </a:r>
            <a:r>
              <a:rPr lang="en-AU" sz="1200" dirty="0"/>
              <a:t>": true,</a:t>
            </a:r>
          </a:p>
          <a:p>
            <a:pPr defTabSz="360000"/>
            <a:r>
              <a:rPr lang="en-AU" sz="1200" dirty="0"/>
              <a:t>	"active": true,</a:t>
            </a:r>
          </a:p>
          <a:p>
            <a:pPr defTabSz="360000"/>
            <a:r>
              <a:rPr lang="en-AU" sz="1200" dirty="0"/>
              <a:t>	"source": {</a:t>
            </a:r>
          </a:p>
          <a:p>
            <a:pPr defTabSz="360000"/>
            <a:r>
              <a:rPr lang="en-AU" sz="1200" dirty="0"/>
              <a:t>		"document": "AASTP-1",</a:t>
            </a:r>
          </a:p>
          <a:p>
            <a:pPr defTabSz="360000"/>
            <a:r>
              <a:rPr lang="en-AU" sz="1200" dirty="0"/>
              <a:t>		"version": "Edition D Version 1",</a:t>
            </a:r>
          </a:p>
          <a:p>
            <a:pPr defTabSz="360000"/>
            <a:r>
              <a:rPr lang="en-AU" sz="1200" dirty="0"/>
              <a:t>		"reference": {</a:t>
            </a:r>
          </a:p>
          <a:p>
            <a:pPr defTabSz="360000"/>
            <a:r>
              <a:rPr lang="en-AU" sz="1200" dirty="0"/>
              <a:t>			"section": "Section I",</a:t>
            </a:r>
          </a:p>
          <a:p>
            <a:pPr defTabSz="360000"/>
            <a:r>
              <a:rPr lang="en-AU" sz="1200" dirty="0"/>
              <a:t>			"para": "1.1.1.2.4(a)"</a:t>
            </a:r>
          </a:p>
          <a:p>
            <a:pPr defTabSz="360000"/>
            <a:r>
              <a:rPr lang="en-AU" sz="1200" dirty="0"/>
              <a:t>		}</a:t>
            </a:r>
          </a:p>
          <a:p>
            <a:pPr defTabSz="360000"/>
            <a:r>
              <a:rPr lang="en-AU" sz="1200" dirty="0"/>
              <a:t>	}</a:t>
            </a:r>
          </a:p>
          <a:p>
            <a:pPr defTabSz="360000"/>
            <a:r>
              <a:rPr lang="en-AU" sz="1200" dirty="0"/>
              <a:t>},</a:t>
            </a:r>
          </a:p>
          <a:p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7CA0A5-713B-9689-EBDD-AA77F2A48DDA}"/>
              </a:ext>
            </a:extLst>
          </p:cNvPr>
          <p:cNvSpPr/>
          <p:nvPr/>
        </p:nvSpPr>
        <p:spPr>
          <a:xfrm>
            <a:off x="8464817" y="1397462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073D4F-5CEB-BD89-FF07-7F0850C035B7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8AA17-AAA2-0282-D946-E70103E939B9}"/>
              </a:ext>
            </a:extLst>
          </p:cNvPr>
          <p:cNvSpPr txBox="1"/>
          <p:nvPr/>
        </p:nvSpPr>
        <p:spPr>
          <a:xfrm>
            <a:off x="7370618" y="3429000"/>
            <a:ext cx="3860799" cy="2400657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Features of JSON for Data and Knowledge Layers: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Easily read by humans and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New data can be added without needing to modify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 is very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Can be used by virtually any programming language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50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12C4-6003-03D4-546F-51611171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8A72-204A-EE60-10AB-0135F08C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Knowledge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C4C67F-14A6-E928-61D0-4F864C1F7609}"/>
              </a:ext>
            </a:extLst>
          </p:cNvPr>
          <p:cNvSpPr txBox="1"/>
          <p:nvPr/>
        </p:nvSpPr>
        <p:spPr>
          <a:xfrm>
            <a:off x="838200" y="1386814"/>
            <a:ext cx="66581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/>
            <a:r>
              <a:rPr lang="en-US" dirty="0"/>
              <a:t>Knowledge Layer Example:</a:t>
            </a:r>
          </a:p>
          <a:p>
            <a:pPr defTabSz="360000"/>
            <a:r>
              <a:rPr lang="en-AU" sz="1200" dirty="0"/>
              <a:t>{</a:t>
            </a:r>
          </a:p>
          <a:p>
            <a:pPr defTabSz="360000"/>
            <a:r>
              <a:rPr lang="en-AU" sz="1200" dirty="0"/>
              <a:t>        "id": "BD01",</a:t>
            </a:r>
          </a:p>
          <a:p>
            <a:pPr defTabSz="360000"/>
            <a:r>
              <a:rPr lang="en-AU" sz="1200" dirty="0"/>
              <a:t>        "name": "Blast Distance 1",</a:t>
            </a:r>
          </a:p>
          <a:p>
            <a:pPr defTabSz="360000"/>
            <a:r>
              <a:rPr lang="en-AU" sz="1200" dirty="0"/>
              <a:t>        "applicability": {</a:t>
            </a:r>
          </a:p>
          <a:p>
            <a:pPr defTabSz="360000"/>
            <a:r>
              <a:rPr lang="en-AU" sz="1200" dirty="0"/>
              <a:t>            "</a:t>
            </a:r>
            <a:r>
              <a:rPr lang="en-AU" sz="1200" dirty="0" err="1"/>
              <a:t>minNEQ</a:t>
            </a:r>
            <a:r>
              <a:rPr lang="en-AU" sz="1200" dirty="0"/>
              <a:t>": 1,</a:t>
            </a:r>
          </a:p>
          <a:p>
            <a:pPr defTabSz="360000"/>
            <a:r>
              <a:rPr lang="en-AU" sz="1200" dirty="0"/>
              <a:t>            "</a:t>
            </a:r>
            <a:r>
              <a:rPr lang="en-AU" sz="1200" dirty="0" err="1"/>
              <a:t>maxNEQ</a:t>
            </a:r>
            <a:r>
              <a:rPr lang="en-AU" sz="1200" dirty="0"/>
              <a:t>": 120000</a:t>
            </a:r>
          </a:p>
          <a:p>
            <a:pPr defTabSz="360000"/>
            <a:r>
              <a:rPr lang="en-AU" sz="1200" dirty="0"/>
              <a:t>        },</a:t>
            </a:r>
          </a:p>
          <a:p>
            <a:pPr defTabSz="360000"/>
            <a:r>
              <a:rPr lang="en-AU" sz="1200" dirty="0"/>
              <a:t>        "traceability": {</a:t>
            </a:r>
          </a:p>
          <a:p>
            <a:pPr defTabSz="360000"/>
            <a:r>
              <a:rPr lang="en-AU" sz="1200" dirty="0"/>
              <a:t>            "Part": "1",</a:t>
            </a:r>
          </a:p>
          <a:p>
            <a:pPr defTabSz="360000"/>
            <a:r>
              <a:rPr lang="en-AU" sz="1200" dirty="0"/>
              <a:t>            "Section": "II",</a:t>
            </a:r>
          </a:p>
          <a:p>
            <a:pPr defTabSz="360000"/>
            <a:r>
              <a:rPr lang="en-AU" sz="1200" dirty="0"/>
              <a:t>            "Table": "5",</a:t>
            </a:r>
          </a:p>
          <a:p>
            <a:pPr defTabSz="360000"/>
            <a:r>
              <a:rPr lang="en-AU" sz="1200" dirty="0"/>
              <a:t>            "Row": "BD1"</a:t>
            </a:r>
          </a:p>
          <a:p>
            <a:pPr defTabSz="360000"/>
            <a:r>
              <a:rPr lang="en-AU" sz="1200" dirty="0"/>
              <a:t>        },</a:t>
            </a:r>
          </a:p>
          <a:p>
            <a:pPr defTabSz="360000"/>
            <a:r>
              <a:rPr lang="en-AU" sz="1200" dirty="0"/>
              <a:t>        "calculation": {</a:t>
            </a:r>
          </a:p>
          <a:p>
            <a:pPr defTabSz="360000"/>
            <a:r>
              <a:rPr lang="en-AU" sz="1200" dirty="0"/>
              <a:t>            "type": "conditional",</a:t>
            </a:r>
          </a:p>
          <a:p>
            <a:pPr defTabSz="360000"/>
            <a:r>
              <a:rPr lang="en-AU" sz="1200" dirty="0"/>
              <a:t>            "branches": [</a:t>
            </a:r>
          </a:p>
          <a:p>
            <a:pPr defTabSz="360000"/>
            <a:r>
              <a:rPr lang="en-AU" sz="1200" dirty="0"/>
              <a:t>                {</a:t>
            </a:r>
          </a:p>
          <a:p>
            <a:pPr defTabSz="360000"/>
            <a:r>
              <a:rPr lang="en-AU" sz="1200" dirty="0"/>
              <a:t>                    "id": "BD01_A",</a:t>
            </a:r>
          </a:p>
          <a:p>
            <a:pPr defTabSz="360000"/>
            <a:r>
              <a:rPr lang="en-AU" sz="1200" dirty="0"/>
              <a:t>                    "sequence":1,</a:t>
            </a:r>
          </a:p>
          <a:p>
            <a:pPr defTabSz="360000"/>
            <a:r>
              <a:rPr lang="en-AU" sz="1200" dirty="0"/>
              <a:t>                    "notes": "k=0.35 for NEQ less than 30000",</a:t>
            </a:r>
          </a:p>
          <a:p>
            <a:pPr defTabSz="360000"/>
            <a:r>
              <a:rPr lang="en-AU" sz="1200" dirty="0"/>
              <a:t>                    "when": {</a:t>
            </a:r>
          </a:p>
          <a:p>
            <a:pPr defTabSz="360000"/>
            <a:r>
              <a:rPr lang="en-AU" sz="1200" dirty="0"/>
              <a:t>                        "</a:t>
            </a:r>
            <a:r>
              <a:rPr lang="en-AU" sz="1200" dirty="0" err="1"/>
              <a:t>neq</a:t>
            </a:r>
            <a:r>
              <a:rPr lang="en-AU" sz="1200" dirty="0"/>
              <a:t>": {</a:t>
            </a:r>
          </a:p>
          <a:p>
            <a:pPr defTabSz="360000"/>
            <a:r>
              <a:rPr lang="en-AU" sz="1200" dirty="0"/>
              <a:t>                            "</a:t>
            </a:r>
            <a:r>
              <a:rPr lang="en-AU" sz="1200" dirty="0" err="1"/>
              <a:t>gte</a:t>
            </a:r>
            <a:r>
              <a:rPr lang="en-AU" sz="1200" dirty="0"/>
              <a:t>": 1,</a:t>
            </a:r>
          </a:p>
          <a:p>
            <a:pPr defTabSz="360000"/>
            <a:r>
              <a:rPr lang="en-AU" sz="1200" dirty="0"/>
              <a:t>                            "</a:t>
            </a:r>
            <a:r>
              <a:rPr lang="en-AU" sz="1200" dirty="0" err="1"/>
              <a:t>lt</a:t>
            </a:r>
            <a:r>
              <a:rPr lang="en-AU" sz="1200" dirty="0"/>
              <a:t>": 30000</a:t>
            </a:r>
          </a:p>
          <a:p>
            <a:pPr defTabSz="360000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C01903B-E72A-1547-8DC2-3295E9473816}"/>
              </a:ext>
            </a:extLst>
          </p:cNvPr>
          <p:cNvSpPr/>
          <p:nvPr/>
        </p:nvSpPr>
        <p:spPr>
          <a:xfrm>
            <a:off x="8464817" y="1397462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6DA66D-C544-28BF-2E98-F63A6994713F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1CCC0-FA98-9C58-D42B-B31818A1F254}"/>
              </a:ext>
            </a:extLst>
          </p:cNvPr>
          <p:cNvSpPr txBox="1"/>
          <p:nvPr/>
        </p:nvSpPr>
        <p:spPr>
          <a:xfrm>
            <a:off x="7370618" y="3429000"/>
            <a:ext cx="3860799" cy="2400657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Features of JSON for Data and Knowledge Layers: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Easily read by humans and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New data can be added without needing to modify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 is very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Can be used by virtually any programming language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78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7160-B6D1-AB59-9F40-8D1CC6E6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82237EC-B036-876C-9954-D28C7B99A177}"/>
              </a:ext>
            </a:extLst>
          </p:cNvPr>
          <p:cNvSpPr txBox="1"/>
          <p:nvPr/>
        </p:nvSpPr>
        <p:spPr>
          <a:xfrm>
            <a:off x="838200" y="1590347"/>
            <a:ext cx="66581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/>
            <a:r>
              <a:rPr lang="en-US" dirty="0"/>
              <a:t>Three Levels of Validation:</a:t>
            </a:r>
          </a:p>
          <a:p>
            <a:pPr marL="342900" indent="-342900" defTabSz="360000">
              <a:buAutoNum type="arabicPeriod"/>
            </a:pPr>
            <a:r>
              <a:rPr lang="en-US" dirty="0"/>
              <a:t>JSON files are internally consistent and meets design rules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Do </a:t>
            </a:r>
            <a:r>
              <a:rPr lang="en-US" dirty="0" err="1"/>
              <a:t>distance_rule</a:t>
            </a:r>
            <a:r>
              <a:rPr lang="en-US" dirty="0"/>
              <a:t> branch ranges overlap?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Are id’s unique?</a:t>
            </a:r>
          </a:p>
          <a:p>
            <a:pPr marL="342900" indent="-342900" defTabSz="360000">
              <a:buAutoNum type="arabicPeriod"/>
            </a:pPr>
            <a:r>
              <a:rPr lang="en-US" dirty="0"/>
              <a:t>Knowledge Layer data is valid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Is the effect for a given interaction valid?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Does a hazard actually link to a stated effect?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Is the quantity statis (NEQ or MCE) supported by the stated hazard?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Are all PES/ES interactions addressed?</a:t>
            </a:r>
          </a:p>
          <a:p>
            <a:pPr marL="342900" indent="-342900" defTabSz="360000">
              <a:buAutoNum type="arabicPeriod"/>
            </a:pPr>
            <a:r>
              <a:rPr lang="en-US" dirty="0"/>
              <a:t>Computations forwards and backwards are aligned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For a given NEQ, what is the calculated distance and, using the reverse calculation with that distance, what NEQ do I get?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BD3 NEQ of 15000kg gives 12.331m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BD3 Distance of 12.331m gives 15000kg</a:t>
            </a:r>
          </a:p>
          <a:p>
            <a:pPr defTabSz="36000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D7204-E941-DDCA-CD04-1480F648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Knowledge Validation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D7A4AA-7F36-AF36-457C-B6AAC8CA63C1}"/>
              </a:ext>
            </a:extLst>
          </p:cNvPr>
          <p:cNvSpPr/>
          <p:nvPr/>
        </p:nvSpPr>
        <p:spPr>
          <a:xfrm>
            <a:off x="8464817" y="1397462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D81BD0C-F288-3242-0031-19829B3FD985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6B438-1686-2D7E-3177-D31A0A902693}"/>
              </a:ext>
            </a:extLst>
          </p:cNvPr>
          <p:cNvSpPr txBox="1"/>
          <p:nvPr/>
        </p:nvSpPr>
        <p:spPr>
          <a:xfrm>
            <a:off x="7813964" y="3159362"/>
            <a:ext cx="3860799" cy="2585323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Validation provides: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Confidence that data is structured IAW design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Assurance that all interaction permutations are addressed.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interactions are valid and IAW AASTP-1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degree of confidence that calculations are entered 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B3E093-36D0-0D2F-2FDC-6984D39D5EC1}"/>
              </a:ext>
            </a:extLst>
          </p:cNvPr>
          <p:cNvSpPr/>
          <p:nvPr/>
        </p:nvSpPr>
        <p:spPr>
          <a:xfrm>
            <a:off x="7975602" y="370683"/>
            <a:ext cx="2992582" cy="23125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AC463-AD0D-2D1B-0B81-D281F575D0C4}"/>
              </a:ext>
            </a:extLst>
          </p:cNvPr>
          <p:cNvSpPr txBox="1"/>
          <p:nvPr/>
        </p:nvSpPr>
        <p:spPr>
          <a:xfrm>
            <a:off x="8809577" y="424083"/>
            <a:ext cx="132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172783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0118-B871-E21F-E1E2-6407C8BB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BD2B-285C-1A88-9B93-66257F9A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Layer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53BCBD-670A-624C-5828-9EF9CCB93DC9}"/>
              </a:ext>
            </a:extLst>
          </p:cNvPr>
          <p:cNvSpPr/>
          <p:nvPr/>
        </p:nvSpPr>
        <p:spPr>
          <a:xfrm>
            <a:off x="8464817" y="1397462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B262E47-7DC8-B941-685F-4E60F4F72C11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3A798-FF47-EAD9-7010-913B2DB2E4F0}"/>
              </a:ext>
            </a:extLst>
          </p:cNvPr>
          <p:cNvSpPr txBox="1"/>
          <p:nvPr/>
        </p:nvSpPr>
        <p:spPr>
          <a:xfrm>
            <a:off x="7541493" y="2700064"/>
            <a:ext cx="3860799" cy="3077766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Service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receives GET and POST requests from the 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ensures requests are 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filters through data provided by the knowledge and data layers to identify appropriate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calculates and transforms the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pushes the transformed output through the API back to the user </a:t>
            </a:r>
            <a:r>
              <a:rPr lang="en-US" sz="1600" dirty="0" err="1"/>
              <a:t>applicaiton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610851-7909-188B-57D2-6DD6CB19BBE9}"/>
              </a:ext>
            </a:extLst>
          </p:cNvPr>
          <p:cNvSpPr/>
          <p:nvPr/>
        </p:nvSpPr>
        <p:spPr>
          <a:xfrm>
            <a:off x="8464817" y="857462"/>
            <a:ext cx="2014152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 Layer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323340-DA5E-BE97-0442-884B46D5CFFD}"/>
              </a:ext>
            </a:extLst>
          </p:cNvPr>
          <p:cNvSpPr/>
          <p:nvPr/>
        </p:nvSpPr>
        <p:spPr>
          <a:xfrm>
            <a:off x="8464817" y="1408110"/>
            <a:ext cx="2014152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OpenAPI</a:t>
            </a:r>
            <a:r>
              <a:rPr lang="en-US" dirty="0">
                <a:solidFill>
                  <a:schemeClr val="tx1"/>
                </a:solidFill>
              </a:rPr>
              <a:t> Contract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68AC26-7E76-1462-242F-8223401C8C92}"/>
              </a:ext>
            </a:extLst>
          </p:cNvPr>
          <p:cNvSpPr/>
          <p:nvPr/>
        </p:nvSpPr>
        <p:spPr>
          <a:xfrm>
            <a:off x="4347133" y="1211729"/>
            <a:ext cx="2592000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OpenAPI</a:t>
            </a:r>
            <a:r>
              <a:rPr lang="en-US" dirty="0">
                <a:solidFill>
                  <a:schemeClr val="tx1"/>
                </a:solidFill>
              </a:rPr>
              <a:t> Contract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9D6CE-44D8-B0B4-5E8D-A7E5531F2BEA}"/>
              </a:ext>
            </a:extLst>
          </p:cNvPr>
          <p:cNvSpPr txBox="1"/>
          <p:nvPr/>
        </p:nvSpPr>
        <p:spPr>
          <a:xfrm>
            <a:off x="4347133" y="195370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 Service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D1F4E-A648-B929-6108-270C11905C7C}"/>
              </a:ext>
            </a:extLst>
          </p:cNvPr>
          <p:cNvSpPr txBox="1"/>
          <p:nvPr/>
        </p:nvSpPr>
        <p:spPr>
          <a:xfrm>
            <a:off x="480294" y="3686788"/>
            <a:ext cx="232725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Assessment Resolver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B53911-3F1C-497B-2784-666EF318088F}"/>
              </a:ext>
            </a:extLst>
          </p:cNvPr>
          <p:cNvSpPr txBox="1"/>
          <p:nvPr/>
        </p:nvSpPr>
        <p:spPr>
          <a:xfrm>
            <a:off x="4347133" y="252501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Interaction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6ED81F-9023-F2B5-6107-F882EB35D52C}"/>
              </a:ext>
            </a:extLst>
          </p:cNvPr>
          <p:cNvSpPr txBox="1"/>
          <p:nvPr/>
        </p:nvSpPr>
        <p:spPr>
          <a:xfrm>
            <a:off x="4347133" y="309632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Rule Service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301A9E-9211-2DCC-2D04-F467D1E3BCEF}"/>
              </a:ext>
            </a:extLst>
          </p:cNvPr>
          <p:cNvSpPr txBox="1"/>
          <p:nvPr/>
        </p:nvSpPr>
        <p:spPr>
          <a:xfrm>
            <a:off x="4347133" y="366763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Branch Resolver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4C824-EF88-9765-2DCC-6672DDCD4E83}"/>
              </a:ext>
            </a:extLst>
          </p:cNvPr>
          <p:cNvSpPr txBox="1"/>
          <p:nvPr/>
        </p:nvSpPr>
        <p:spPr>
          <a:xfrm>
            <a:off x="4347133" y="423894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Formula Service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469475-380E-F612-0468-3730352D7046}"/>
              </a:ext>
            </a:extLst>
          </p:cNvPr>
          <p:cNvSpPr txBox="1"/>
          <p:nvPr/>
        </p:nvSpPr>
        <p:spPr>
          <a:xfrm>
            <a:off x="4347133" y="481025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Calculation 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9B4546-CCFD-E761-FA6C-C0F17BACF08E}"/>
              </a:ext>
            </a:extLst>
          </p:cNvPr>
          <p:cNvSpPr txBox="1"/>
          <p:nvPr/>
        </p:nvSpPr>
        <p:spPr>
          <a:xfrm>
            <a:off x="4347133" y="5381566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Transformation Service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14C7935-DAA5-386B-23FF-935A1F96FA66}"/>
              </a:ext>
            </a:extLst>
          </p:cNvPr>
          <p:cNvSpPr/>
          <p:nvPr/>
        </p:nvSpPr>
        <p:spPr>
          <a:xfrm>
            <a:off x="4347133" y="5952875"/>
            <a:ext cx="2592000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OpenAPI</a:t>
            </a:r>
            <a:r>
              <a:rPr lang="en-US" dirty="0">
                <a:solidFill>
                  <a:schemeClr val="tx1"/>
                </a:solidFill>
              </a:rPr>
              <a:t> Contract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936589-5C68-6980-AB5B-4F7F1901896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643133" y="1751729"/>
            <a:ext cx="0" cy="201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CA6AA0-A3B8-B69F-2AF3-6D01906BD6BC}"/>
              </a:ext>
            </a:extLst>
          </p:cNvPr>
          <p:cNvCxnSpPr>
            <a:stCxn id="11" idx="1"/>
            <a:endCxn id="12" idx="0"/>
          </p:cNvCxnSpPr>
          <p:nvPr/>
        </p:nvCxnSpPr>
        <p:spPr>
          <a:xfrm flipH="1">
            <a:off x="1643921" y="2138373"/>
            <a:ext cx="2703212" cy="1548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578D93-0E02-7F21-386F-1FEB677B3B8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2807547" y="2709683"/>
            <a:ext cx="1539586" cy="11617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6C6A42-D925-66E3-4401-54DBC835BFD3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 flipV="1">
            <a:off x="2807547" y="3280993"/>
            <a:ext cx="1539586" cy="5904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C351A6-5DD6-831B-E1C7-CC614A9D4FF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2807547" y="3852303"/>
            <a:ext cx="1539586" cy="191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EB63935-BEE8-24D0-03E3-E17F9344B9D4}"/>
              </a:ext>
            </a:extLst>
          </p:cNvPr>
          <p:cNvCxnSpPr>
            <a:stCxn id="12" idx="3"/>
            <a:endCxn id="17" idx="1"/>
          </p:cNvCxnSpPr>
          <p:nvPr/>
        </p:nvCxnSpPr>
        <p:spPr>
          <a:xfrm>
            <a:off x="2807547" y="3871454"/>
            <a:ext cx="1539586" cy="5521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68BAD2-3B41-F253-83BF-70DC0216DC5F}"/>
              </a:ext>
            </a:extLst>
          </p:cNvPr>
          <p:cNvCxnSpPr>
            <a:stCxn id="12" idx="3"/>
            <a:endCxn id="18" idx="1"/>
          </p:cNvCxnSpPr>
          <p:nvPr/>
        </p:nvCxnSpPr>
        <p:spPr>
          <a:xfrm>
            <a:off x="2807547" y="3871454"/>
            <a:ext cx="1539586" cy="11234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362CB54-86CF-C77E-1DCD-7694D34D44D9}"/>
              </a:ext>
            </a:extLst>
          </p:cNvPr>
          <p:cNvCxnSpPr>
            <a:stCxn id="12" idx="2"/>
            <a:endCxn id="19" idx="1"/>
          </p:cNvCxnSpPr>
          <p:nvPr/>
        </p:nvCxnSpPr>
        <p:spPr>
          <a:xfrm>
            <a:off x="1643921" y="4056120"/>
            <a:ext cx="2703212" cy="1510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F6AD23-91D5-F556-0798-2527F299A5E5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5643133" y="5750898"/>
            <a:ext cx="0" cy="201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FE8C74E-D678-80AE-55F9-AF08E1E33807}"/>
              </a:ext>
            </a:extLst>
          </p:cNvPr>
          <p:cNvSpPr txBox="1"/>
          <p:nvPr/>
        </p:nvSpPr>
        <p:spPr>
          <a:xfrm>
            <a:off x="1615048" y="2280424"/>
            <a:ext cx="1188604" cy="646331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Validated Context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01433E-1872-65DE-8AA5-71E569D7666B}"/>
              </a:ext>
            </a:extLst>
          </p:cNvPr>
          <p:cNvSpPr txBox="1"/>
          <p:nvPr/>
        </p:nvSpPr>
        <p:spPr>
          <a:xfrm>
            <a:off x="1615048" y="5033225"/>
            <a:ext cx="1188604" cy="646331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Raw Value</a:t>
            </a:r>
          </a:p>
        </p:txBody>
      </p:sp>
    </p:spTree>
    <p:extLst>
      <p:ext uri="{BB962C8B-B14F-4D97-AF65-F5344CB8AC3E}">
        <p14:creationId xmlns:p14="http://schemas.microsoft.com/office/powerpoint/2010/main" val="183162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C4C04-BBDA-9B9C-CE91-1E91E59B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B96F-212D-B6BC-00CD-6D649576E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OpenAPI</a:t>
            </a:r>
            <a:r>
              <a:rPr lang="en-US" dirty="0"/>
              <a:t> Contract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EB2AE27-D6AE-98CE-D65F-1CFD6B236ED7}"/>
              </a:ext>
            </a:extLst>
          </p:cNvPr>
          <p:cNvSpPr/>
          <p:nvPr/>
        </p:nvSpPr>
        <p:spPr>
          <a:xfrm>
            <a:off x="8464817" y="1397462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E81739-B8A6-9242-D8E8-42328C3EE640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1E126-7151-B435-B7F5-480332432AB6}"/>
              </a:ext>
            </a:extLst>
          </p:cNvPr>
          <p:cNvSpPr txBox="1"/>
          <p:nvPr/>
        </p:nvSpPr>
        <p:spPr>
          <a:xfrm>
            <a:off x="7541493" y="2700064"/>
            <a:ext cx="3860799" cy="2831544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Service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Industry standards have been adopted to help facilitate independent development of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Is not impacted by changes to underlying data (i.e. new PES could be added and it would be automatically adopted).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API design principles support versioning and backwards compatibility.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E04C87A-6EEB-DD2E-85B5-8D13F311BD7F}"/>
              </a:ext>
            </a:extLst>
          </p:cNvPr>
          <p:cNvSpPr/>
          <p:nvPr/>
        </p:nvSpPr>
        <p:spPr>
          <a:xfrm>
            <a:off x="8464817" y="857462"/>
            <a:ext cx="2014152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 Layer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4C88965-F555-EC80-7FB6-5A5C15BA28DB}"/>
              </a:ext>
            </a:extLst>
          </p:cNvPr>
          <p:cNvSpPr/>
          <p:nvPr/>
        </p:nvSpPr>
        <p:spPr>
          <a:xfrm>
            <a:off x="8464817" y="1408110"/>
            <a:ext cx="2014152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OpenAPI</a:t>
            </a:r>
            <a:r>
              <a:rPr lang="en-US" dirty="0">
                <a:solidFill>
                  <a:schemeClr val="tx1"/>
                </a:solidFill>
              </a:rPr>
              <a:t> Contract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4772F-CA0D-FEC5-F310-E90A9E39F358}"/>
              </a:ext>
            </a:extLst>
          </p:cNvPr>
          <p:cNvSpPr txBox="1"/>
          <p:nvPr/>
        </p:nvSpPr>
        <p:spPr>
          <a:xfrm>
            <a:off x="838200" y="1590347"/>
            <a:ext cx="6658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/>
            <a:r>
              <a:rPr lang="en-US" dirty="0"/>
              <a:t>Provides a </a:t>
            </a:r>
            <a:r>
              <a:rPr lang="en-US" dirty="0" err="1"/>
              <a:t>standardised</a:t>
            </a:r>
            <a:r>
              <a:rPr lang="en-US" dirty="0"/>
              <a:t> way for engaging the AASTP standard:</a:t>
            </a:r>
          </a:p>
          <a:p>
            <a:pPr marL="342900" indent="-342900" defTabSz="360000">
              <a:buAutoNum type="arabicPeriod"/>
            </a:pPr>
            <a:r>
              <a:rPr lang="en-US" dirty="0" err="1"/>
              <a:t>OpenAPI</a:t>
            </a:r>
            <a:r>
              <a:rPr lang="en-US" dirty="0"/>
              <a:t> is an industry standard, supporting independent application development</a:t>
            </a:r>
          </a:p>
          <a:p>
            <a:pPr marL="342900" indent="-342900" defTabSz="360000">
              <a:buAutoNum type="arabicPeriod"/>
            </a:pPr>
            <a:r>
              <a:rPr lang="en-US" dirty="0"/>
              <a:t>Only accepts two types of requests: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GET functions return reference data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GET /</a:t>
            </a:r>
            <a:r>
              <a:rPr lang="en-US" dirty="0" err="1"/>
              <a:t>effects?active</a:t>
            </a:r>
            <a:r>
              <a:rPr lang="en-US" dirty="0"/>
              <a:t>=true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GET /</a:t>
            </a:r>
            <a:r>
              <a:rPr lang="en-US" dirty="0" err="1"/>
              <a:t>pes_types?structure</a:t>
            </a:r>
            <a:r>
              <a:rPr lang="en-US" dirty="0"/>
              <a:t>=</a:t>
            </a:r>
            <a:r>
              <a:rPr lang="en-US" dirty="0" err="1"/>
              <a:t>ecm</a:t>
            </a:r>
            <a:endParaRPr lang="en-US" dirty="0"/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POST functions return calculated outputs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Structure of POST requests TBD</a:t>
            </a:r>
          </a:p>
          <a:p>
            <a:pPr marL="342900" indent="-342900" defTabSz="360000">
              <a:buFont typeface="+mj-lt"/>
              <a:buAutoNum type="arabicPeriod"/>
            </a:pPr>
            <a:r>
              <a:rPr lang="en-US" dirty="0"/>
              <a:t>Assessment operations do no modify underlying data</a:t>
            </a:r>
          </a:p>
          <a:p>
            <a:pPr marL="342900" indent="-342900" defTabSz="360000">
              <a:buFont typeface="+mj-lt"/>
              <a:buAutoNum type="arabicPeriod"/>
            </a:pPr>
            <a:r>
              <a:rPr lang="en-US" dirty="0"/>
              <a:t>All returns will provide traceability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67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3E1C-C382-67DC-EB14-133F8A27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4316C-AE1D-1C91-0160-1221D069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DEFFDD-6F48-AB6E-42B8-0CD150005EB7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A4087-CBD9-2947-AD6B-F0533649ADB9}"/>
              </a:ext>
            </a:extLst>
          </p:cNvPr>
          <p:cNvSpPr txBox="1"/>
          <p:nvPr/>
        </p:nvSpPr>
        <p:spPr>
          <a:xfrm>
            <a:off x="838200" y="1590347"/>
            <a:ext cx="665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/>
            <a:r>
              <a:rPr lang="en-US" dirty="0"/>
              <a:t>Basic applications can be generated to support rollout.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E3791B3-BE2E-3019-B544-30C2CB2F79D5}"/>
              </a:ext>
            </a:extLst>
          </p:cNvPr>
          <p:cNvSpPr/>
          <p:nvPr/>
        </p:nvSpPr>
        <p:spPr>
          <a:xfrm>
            <a:off x="8464816" y="846814"/>
            <a:ext cx="2014152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/>
              <a:t>Application Layer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3D4A063-198D-ED03-4E0B-7DB286DCB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618334"/>
              </p:ext>
            </p:extLst>
          </p:nvPr>
        </p:nvGraphicFramePr>
        <p:xfrm>
          <a:off x="838200" y="2172377"/>
          <a:ext cx="1051560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927">
                  <a:extLst>
                    <a:ext uri="{9D8B030D-6E8A-4147-A177-3AD203B41FA5}">
                      <a16:colId xmlns:a16="http://schemas.microsoft.com/office/drawing/2014/main" val="3108031618"/>
                    </a:ext>
                  </a:extLst>
                </a:gridCol>
                <a:gridCol w="7714673">
                  <a:extLst>
                    <a:ext uri="{9D8B030D-6E8A-4147-A177-3AD203B41FA5}">
                      <a16:colId xmlns:a16="http://schemas.microsoft.com/office/drawing/2014/main" val="334472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Potential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it would use AASTP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440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Web calculation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Retrieves approved tables, notes and parameters to support calculations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94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Excel workbook / add-in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Pulls current, versioned data into current or future tools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19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cached repository of AASTP data to support field decisions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30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the same approved data for worked examples, exercises,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211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GIS/mapping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API data to generate or assess safety-distance zones spatially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01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Report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Creates calculation records, evidence packs and reports with edition specific traceability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35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Power BI or analytical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Analyses holdings, scenarios or compliance related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12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National or organizational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Allows existing systems to adopt a common data source without replacing local processes or interfaces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9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82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7665-BA6A-2DA4-F216-D917B86C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Development Ideas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BC9EC-9276-8917-D026-AB40A40E05CE}"/>
              </a:ext>
            </a:extLst>
          </p:cNvPr>
          <p:cNvSpPr txBox="1"/>
          <p:nvPr/>
        </p:nvSpPr>
        <p:spPr>
          <a:xfrm>
            <a:off x="838200" y="1747481"/>
            <a:ext cx="6658160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36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Include language options for AASTP text data</a:t>
            </a:r>
          </a:p>
          <a:p>
            <a:pPr marL="342900" indent="-342900" defTabSz="36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Incorporate airfield and underground storage from other AASTP-1 sections</a:t>
            </a:r>
          </a:p>
          <a:p>
            <a:pPr marL="342900" indent="-342900" defTabSz="36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Incorporate AASTP-5</a:t>
            </a:r>
          </a:p>
          <a:p>
            <a:pPr marL="342900" indent="-342900" defTabSz="36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Enable national tailoring to be adopted by expanding Data and Knowledge Layer</a:t>
            </a:r>
          </a:p>
        </p:txBody>
      </p:sp>
    </p:spTree>
    <p:extLst>
      <p:ext uri="{BB962C8B-B14F-4D97-AF65-F5344CB8AC3E}">
        <p14:creationId xmlns:p14="http://schemas.microsoft.com/office/powerpoint/2010/main" val="2465676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33BD-C4DD-5ACB-B54E-1DEF503C2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National Tailoring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9AA03-6A9A-9F3E-A1A6-2C7151D861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Separate JSON file managed by a nation</a:t>
            </a:r>
          </a:p>
          <a:p>
            <a:pPr lvl="1"/>
            <a:r>
              <a:rPr lang="en-US" dirty="0"/>
              <a:t>Control resides with the nation</a:t>
            </a:r>
          </a:p>
          <a:p>
            <a:r>
              <a:rPr lang="en-US" dirty="0"/>
              <a:t>Only modifies the parameter of interest, retains remainder of core data</a:t>
            </a:r>
          </a:p>
          <a:p>
            <a:r>
              <a:rPr lang="en-US" dirty="0"/>
              <a:t>Allows full data validation to occur against national tailoring without further modification</a:t>
            </a:r>
          </a:p>
          <a:p>
            <a:r>
              <a:rPr lang="en-US" dirty="0"/>
              <a:t>repository </a:t>
            </a:r>
            <a:r>
              <a:rPr lang="en-US" dirty="0" err="1"/>
              <a:t>prioritises</a:t>
            </a:r>
            <a:r>
              <a:rPr lang="en-US" dirty="0"/>
              <a:t> national tailoring over core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6FF64-820B-B520-6DD8-522521F73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93669"/>
            <a:ext cx="5181600" cy="4583294"/>
          </a:xfrm>
        </p:spPr>
        <p:txBody>
          <a:bodyPr>
            <a:normAutofit lnSpcReduction="10000"/>
          </a:bodyPr>
          <a:lstStyle/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“disable”: 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 	"id": "ES007A",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  	”name": "EW-B-PR",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  	"reason": "Not </a:t>
            </a:r>
            <a:r>
              <a:rPr lang="en-US" sz="1200" dirty="0" err="1"/>
              <a:t>recognised</a:t>
            </a:r>
            <a:r>
              <a:rPr lang="en-US" sz="1200" dirty="0"/>
              <a:t> within the Australian national profile.”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“reference”: “ESCM 001/26”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}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“modify”: 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 	</a:t>
            </a:r>
            <a:r>
              <a:rPr lang="en-US" sz="1200" dirty="0" err="1"/>
              <a:t>distanceRules</a:t>
            </a:r>
            <a:r>
              <a:rPr lang="en-US" sz="1200" dirty="0"/>
              <a:t>”: [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"id": ”BD02_A",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  			“changes”: 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“when”:{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	“</a:t>
            </a:r>
            <a:r>
              <a:rPr lang="en-US" sz="1200" dirty="0" err="1"/>
              <a:t>neq</a:t>
            </a:r>
            <a:r>
              <a:rPr lang="en-US" sz="1200" dirty="0"/>
              <a:t>”: 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		“</a:t>
            </a:r>
            <a:r>
              <a:rPr lang="en-US" sz="1200" dirty="0" err="1"/>
              <a:t>lt</a:t>
            </a:r>
            <a:r>
              <a:rPr lang="en-US" sz="1200" dirty="0"/>
              <a:t>”: 2000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	}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}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},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"reason": ”Australian nationally approved QD calculation”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”reference”: “ECM 002/26”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},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"id": ”BD02_B,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  			“changes”: 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“when”:{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	“</a:t>
            </a:r>
            <a:r>
              <a:rPr lang="en-US" sz="1200" dirty="0" err="1"/>
              <a:t>neq</a:t>
            </a:r>
            <a:r>
              <a:rPr lang="en-US" sz="1200" dirty="0"/>
              <a:t>”: 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		“</a:t>
            </a:r>
            <a:r>
              <a:rPr lang="en-US" sz="1200" dirty="0" err="1"/>
              <a:t>gte</a:t>
            </a:r>
            <a:r>
              <a:rPr lang="en-US" sz="1200" dirty="0"/>
              <a:t>”: 2000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	}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}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},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"reason": ”Australian nationally approved QD calculation”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”reference”: “ECM 002/26”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}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]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}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156836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47745-D9DF-6B78-ED6E-6A7D44720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3FA05-7A3D-76C9-5108-3904B45C0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7A865-BDE9-C024-D523-F1E7DAF894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language packs for requested language</a:t>
            </a:r>
          </a:p>
          <a:p>
            <a:r>
              <a:rPr lang="en-US" dirty="0"/>
              <a:t>Adopt language neutral placeholders in core data</a:t>
            </a:r>
          </a:p>
          <a:p>
            <a:r>
              <a:rPr lang="en-US" dirty="0"/>
              <a:t>Service returns the text in the chosen language</a:t>
            </a:r>
          </a:p>
          <a:p>
            <a:r>
              <a:rPr lang="en-US" dirty="0"/>
              <a:t>Language packs generated using XLIFF (industry standard for managing translations)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24F0D-4B39-9C02-DCA7-19A6A2843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93669"/>
            <a:ext cx="5181600" cy="4583294"/>
          </a:xfrm>
        </p:spPr>
        <p:txBody>
          <a:bodyPr>
            <a:normAutofit/>
          </a:bodyPr>
          <a:lstStyle/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 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 	"id": ”PES001",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  	”</a:t>
            </a:r>
            <a:r>
              <a:rPr lang="en-US" sz="1200" dirty="0" err="1"/>
              <a:t>displayName</a:t>
            </a:r>
            <a:r>
              <a:rPr lang="en-US" sz="1200" dirty="0"/>
              <a:t>": ”TXT-PES001-NAME",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  	”description": ”TXT-PES001-DESC”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…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}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endParaRPr lang="en-US" sz="1200" dirty="0"/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English pack contains: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“TXT-PES001-NAME”: “Earth Covered Magazine”,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“TXT-PES001-DESC”: “…”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},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…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endParaRPr lang="en-US" sz="1200" dirty="0"/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French pack contains: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“TXT-PES001-NAME”: “Magasin </a:t>
            </a:r>
            <a:r>
              <a:rPr lang="en-US" sz="1200" dirty="0" err="1"/>
              <a:t>recouvert</a:t>
            </a:r>
            <a:r>
              <a:rPr lang="en-US" sz="1200" dirty="0"/>
              <a:t> de terre”,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“TXT-PES001-DESC”: “…”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},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…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endParaRPr lang="en-US" sz="1200" dirty="0"/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German pack contains: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{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“TXT-PES001-NAME”: “</a:t>
            </a:r>
            <a:r>
              <a:rPr lang="en-US" sz="1200" dirty="0" err="1"/>
              <a:t>Erdüberdecktes</a:t>
            </a:r>
            <a:r>
              <a:rPr lang="en-US" sz="1200" dirty="0"/>
              <a:t> </a:t>
            </a:r>
            <a:r>
              <a:rPr lang="en-US" sz="1200" dirty="0" err="1"/>
              <a:t>Munitionslager</a:t>
            </a:r>
            <a:r>
              <a:rPr lang="en-US" sz="1200" dirty="0"/>
              <a:t>”,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“TXT-PES001-DESC”: “…”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},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…</a:t>
            </a:r>
          </a:p>
          <a:p>
            <a:pPr marL="0" indent="0" defTabSz="360000">
              <a:lnSpc>
                <a:spcPct val="10000"/>
              </a:lnSpc>
              <a:buNone/>
              <a:tabLst>
                <a:tab pos="360000" algn="l"/>
              </a:tabLst>
            </a:pPr>
            <a:r>
              <a:rPr lang="en-US" sz="1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1457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</TotalTime>
  <Words>1870</Words>
  <Application>Microsoft Macintosh PowerPoint</Application>
  <PresentationFormat>Widescreen</PresentationFormat>
  <Paragraphs>317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AASTP Digitisation</vt:lpstr>
      <vt:lpstr>Current Situation</vt:lpstr>
      <vt:lpstr>Proposed Solution</vt:lpstr>
      <vt:lpstr>Structure</vt:lpstr>
      <vt:lpstr>Data and Knowledge Layer</vt:lpstr>
      <vt:lpstr>Data and Knowledge Layer</vt:lpstr>
      <vt:lpstr>Data and Knowledge Validation</vt:lpstr>
      <vt:lpstr>Service Layer</vt:lpstr>
      <vt:lpstr>OpenAPI Contract</vt:lpstr>
      <vt:lpstr>Application Layer</vt:lpstr>
      <vt:lpstr>Future Development Ideas</vt:lpstr>
      <vt:lpstr>National Tailoring</vt:lpstr>
      <vt:lpstr>Language options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Harbert</dc:creator>
  <cp:lastModifiedBy>Chris Harbert</cp:lastModifiedBy>
  <cp:revision>3</cp:revision>
  <dcterms:created xsi:type="dcterms:W3CDTF">2026-07-24T08:01:33Z</dcterms:created>
  <dcterms:modified xsi:type="dcterms:W3CDTF">2026-07-27T09:18:39Z</dcterms:modified>
</cp:coreProperties>
</file>